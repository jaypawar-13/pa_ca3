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3840" y="594360"/>
            <a:ext cx="3657600" cy="5577840"/>
          </a:xfrm>
          <a:prstGeom prst="round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66760" y="1188720"/>
            <a:ext cx="1188720" cy="1188720"/>
          </a:xfrm>
          <a:prstGeom prst="ellipse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29800" y="2011680"/>
            <a:ext cx="731520" cy="731520"/>
          </a:xfrm>
          <a:prstGeom prst="ellipse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06840" y="3886200"/>
            <a:ext cx="1508760" cy="1508760"/>
          </a:xfrm>
          <a:prstGeom prst="ellipse">
            <a:avLst/>
          </a:prstGeom>
          <a:solidFill>
            <a:srgbClr val="53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4160" y="4754880"/>
            <a:ext cx="502920" cy="502920"/>
          </a:xfrm>
          <a:prstGeom prst="ellipse">
            <a:avLst/>
          </a:prstGeom>
          <a:solidFill>
            <a:srgbClr val="B1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749808"/>
            <a:ext cx="6309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B5D5D1"/>
                </a:solidFill>
                <a:latin typeface="Aptos"/>
              </a:rPr>
              <a:t>INDIVIDUAL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08760"/>
            <a:ext cx="658368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Anemia Risk Prediction
Using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73552"/>
            <a:ext cx="6309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CE5EA"/>
                </a:solidFill>
                <a:latin typeface="Aptos"/>
              </a:rPr>
              <a:t>NFHS-5 District Factsheet Data  |  KDD-Based Predictive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99632"/>
            <a:ext cx="5029200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DCE5EA"/>
                </a:solidFill>
                <a:latin typeface="Aptos"/>
              </a:rPr>
              <a:t>Presented by:</a:t>
            </a:r>
            <a:r>
              <a:rPr lang="en-US" sz="1100" b="0" i="0" dirty="0">
                <a:solidFill>
                  <a:srgbClr val="DCE5EA"/>
                </a:solidFill>
                <a:latin typeface="Aptos"/>
              </a:rPr>
              <a:t> Jay Pawar</a:t>
            </a:r>
            <a:br>
              <a:rPr lang="en-US" sz="1100" b="0" i="0" dirty="0">
                <a:solidFill>
                  <a:srgbClr val="DCE5EA"/>
                </a:solidFill>
                <a:latin typeface="Aptos"/>
              </a:rPr>
            </a:br>
            <a:r>
              <a:rPr lang="en-US" sz="1100" b="0" i="0" dirty="0">
                <a:solidFill>
                  <a:srgbClr val="DCE5EA"/>
                </a:solidFill>
                <a:latin typeface="Aptos"/>
              </a:rPr>
              <a:t>PRN : 23070521064</a:t>
            </a:r>
            <a:endParaRPr sz="1100" b="0" i="0" dirty="0">
              <a:solidFill>
                <a:srgbClr val="DCE5E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DCE5E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042"/>
                </a:solidFill>
                <a:latin typeface="Aptos"/>
              </a:rPr>
              <a:t>01  |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37D"/>
                </a:solidFill>
                <a:latin typeface="Aptos"/>
              </a:rPr>
              <a:t>Why district-level anemia risk classification?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10927080" cy="22860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37D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7D"/>
                </a:solidFill>
                <a:latin typeface="Aptos"/>
              </a:rPr>
              <a:t>ANEMIA RISK PREDICTION  •  NFHS-5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537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72768"/>
            <a:ext cx="64008" cy="170078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3042"/>
                </a:solidFill>
                <a:latin typeface="Apto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6153912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66737D"/>
                </a:solidFill>
                <a:latin typeface="Aptos"/>
              </a:rPr>
              <a:t>To develop a machine learning model that predicts anemia risk based on demographic, nutritional, and health-related factors.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463040"/>
            <a:ext cx="374903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43800" y="1572768"/>
            <a:ext cx="64008" cy="1700784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44968" y="1600200"/>
            <a:ext cx="33832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042"/>
                </a:solidFill>
                <a:latin typeface="Aptos"/>
              </a:rPr>
              <a:t>Project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2029968"/>
            <a:ext cx="3364991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737D"/>
                </a:solidFill>
                <a:latin typeface="Aptos"/>
              </a:rPr>
              <a:t>Classify districts into Low, Medium, or High relative anemia-risk groups using NFHS-5 indicators.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3042"/>
                </a:solidFill>
                <a:latin typeface="Aptos"/>
              </a:rPr>
              <a:t>What the model is designed to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453128"/>
            <a:ext cx="64008" cy="101498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48056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042"/>
                </a:solidFill>
                <a:latin typeface="Aptos"/>
              </a:rPr>
              <a:t>Explore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910328"/>
            <a:ext cx="304495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37D"/>
                </a:solidFill>
                <a:latin typeface="Aptos"/>
              </a:rPr>
              <a:t>Compare health and nutrition indicators across districts.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3434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4453128"/>
            <a:ext cx="64008" cy="1014984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448056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042"/>
                </a:solidFill>
                <a:latin typeface="Aptos"/>
              </a:rPr>
              <a:t>Prioritise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910328"/>
            <a:ext cx="304495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37D"/>
                </a:solidFill>
                <a:latin typeface="Aptos"/>
              </a:rPr>
              <a:t>Flag districts for further public-health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3434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4453128"/>
            <a:ext cx="64008" cy="1014984"/>
          </a:xfrm>
          <a:prstGeom prst="rect">
            <a:avLst/>
          </a:prstGeom>
          <a:solidFill>
            <a:srgbClr val="B1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47888" y="448056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042"/>
                </a:solidFill>
                <a:latin typeface="Aptos"/>
              </a:rPr>
              <a:t>Communicate clearly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910328"/>
            <a:ext cx="304495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37D"/>
                </a:solidFill>
                <a:latin typeface="Aptos"/>
              </a:rPr>
              <a:t>Present risk class with a simple district lookup.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042"/>
                </a:solidFill>
                <a:latin typeface="Aptos"/>
              </a:rPr>
              <a:t>02  |  Dataset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37D"/>
                </a:solidFill>
                <a:latin typeface="Aptos"/>
              </a:rPr>
              <a:t>Source: NFHS-5 India Districts Factsheet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10927080" cy="22860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37D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7D"/>
                </a:solidFill>
                <a:latin typeface="Aptos"/>
              </a:rPr>
              <a:t>ANEMIA RISK PREDICTION  •  NFHS-5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18488"/>
            <a:ext cx="64008" cy="87782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45919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042"/>
                </a:solidFill>
                <a:latin typeface="Aptos"/>
              </a:rPr>
              <a:t>707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21305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37D"/>
                </a:solidFill>
                <a:latin typeface="Aptos"/>
              </a:rPr>
              <a:t>district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50876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39" y="1618488"/>
            <a:ext cx="64008" cy="877824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7" y="1645919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042"/>
                </a:solidFill>
                <a:latin typeface="Aptos"/>
              </a:rPr>
              <a:t>106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2075688"/>
            <a:ext cx="21305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37D"/>
                </a:solidFill>
                <a:latin typeface="Aptos"/>
              </a:rPr>
              <a:t>numeric features before selection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035808"/>
            <a:ext cx="64008" cy="877824"/>
          </a:xfrm>
          <a:prstGeom prst="rect">
            <a:avLst/>
          </a:prstGeom>
          <a:solidFill>
            <a:srgbClr val="B1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063240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042"/>
                </a:solidFill>
                <a:latin typeface="Aptos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493008"/>
            <a:ext cx="21305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37D"/>
                </a:solidFill>
                <a:latin typeface="Aptos"/>
              </a:rPr>
              <a:t>features selected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39" y="292608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20439" y="3035808"/>
            <a:ext cx="64008" cy="87782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21607" y="3063240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042"/>
                </a:solidFill>
                <a:latin typeface="Aptos"/>
              </a:rPr>
              <a:t>80:20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7" y="3493008"/>
            <a:ext cx="21305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37D"/>
                </a:solidFill>
                <a:latin typeface="Aptos"/>
              </a:rPr>
              <a:t>train/test split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617720"/>
            <a:ext cx="10451592" cy="18242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4727448"/>
            <a:ext cx="64008" cy="694944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4754880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042"/>
                </a:solidFill>
                <a:latin typeface="Aptos"/>
              </a:rPr>
              <a:t>Target variable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184648"/>
            <a:ext cx="10131552" cy="9541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400" dirty="0"/>
              <a:t>The anemia percentage is divided into three risk levels: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Low (0): Lower anemia percentage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Medium (1): Moderate anemia percentage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High (2): Higher anemia percentage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042"/>
                </a:solidFill>
                <a:latin typeface="Aptos"/>
              </a:rPr>
              <a:t>03  |  KDD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37D"/>
                </a:solidFill>
                <a:latin typeface="Aptos"/>
              </a:rPr>
              <a:t>From raw factsheet to interpreted district-level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10927080" cy="22860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37D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7D"/>
                </a:solidFill>
                <a:latin typeface="Aptos"/>
              </a:rPr>
              <a:t>ANEMIA RISK PREDICTION  •  NFHS-5</a:t>
            </a:r>
          </a:p>
        </p:txBody>
      </p:sp>
      <p:pic>
        <p:nvPicPr>
          <p:cNvPr id="7" name="Picture 6" descr="kdd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10881360" cy="31974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4400" y="434340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4453128"/>
            <a:ext cx="64008" cy="92354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448056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042"/>
                </a:solidFill>
                <a:latin typeface="Aptos"/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910328"/>
            <a:ext cx="277063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37D"/>
                </a:solidFill>
                <a:latin typeface="Aptos"/>
              </a:rPr>
              <a:t>Standardise columns and handle missing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34340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4453128"/>
            <a:ext cx="64008" cy="923544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448056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042"/>
                </a:solidFill>
                <a:latin typeface="Aptos"/>
              </a:rP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4910328"/>
            <a:ext cx="277063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37D"/>
                </a:solidFill>
                <a:latin typeface="Aptos"/>
              </a:rPr>
              <a:t>Train candidate classifiers on training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34340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4453128"/>
            <a:ext cx="64008" cy="923544"/>
          </a:xfrm>
          <a:prstGeom prst="rect">
            <a:avLst/>
          </a:prstGeom>
          <a:solidFill>
            <a:srgbClr val="B1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448056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042"/>
                </a:solidFill>
                <a:latin typeface="Aptos"/>
              </a:rPr>
              <a:t>Present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910328"/>
            <a:ext cx="277063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37D"/>
                </a:solidFill>
                <a:latin typeface="Aptos"/>
              </a:rPr>
              <a:t>Report metrics and district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042"/>
                </a:solidFill>
                <a:latin typeface="Aptos"/>
              </a:rPr>
              <a:t>05  |  EDA &amp; Feature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37D"/>
                </a:solidFill>
                <a:latin typeface="Aptos"/>
              </a:rPr>
              <a:t>Keep informative signals and reduce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10927080" cy="22860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37D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7D"/>
                </a:solidFill>
                <a:latin typeface="Aptos"/>
              </a:rPr>
              <a:t>ANEMIA RISK PREDICTION  •  NFHS-5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18488"/>
            <a:ext cx="64008" cy="128930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45919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042"/>
                </a:solidFill>
                <a:latin typeface="Aptos"/>
              </a:rPr>
              <a:t>EDA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299923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37D"/>
                </a:solidFill>
                <a:latin typeface="Aptos"/>
              </a:rPr>
              <a:t>• Missing values
• Numeric summaries
• Class distribution
• Feature correlations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18488"/>
            <a:ext cx="64008" cy="1289304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45919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042"/>
                </a:solidFill>
                <a:latin typeface="Aptos"/>
              </a:rPr>
              <a:t>Feature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299923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37D"/>
                </a:solidFill>
                <a:latin typeface="Aptos"/>
              </a:rPr>
              <a:t>Random Forest importance ranking fitted on training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18488"/>
            <a:ext cx="64008" cy="1289304"/>
          </a:xfrm>
          <a:prstGeom prst="rect">
            <a:avLst/>
          </a:prstGeom>
          <a:solidFill>
            <a:srgbClr val="B1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45919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042"/>
                </a:solidFill>
                <a:latin typeface="Aptos"/>
              </a:rPr>
              <a:t>Final feature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75688"/>
            <a:ext cx="299923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37D"/>
                </a:solidFill>
                <a:latin typeface="Aptos"/>
              </a:rPr>
              <a:t>20 top-ranked numeric features retained for modelling.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454" y="3516283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3042"/>
                </a:solidFill>
                <a:latin typeface="Aptos"/>
              </a:rPr>
              <a:t>Before: 106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4894" y="4019203"/>
            <a:ext cx="3017520" cy="384048"/>
          </a:xfrm>
          <a:prstGeom prst="round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2615" y="3516283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 dirty="0">
                <a:solidFill>
                  <a:srgbClr val="1F3042"/>
                </a:solidFill>
                <a:latin typeface="Aptos"/>
              </a:rPr>
              <a:t>Selected: 20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0438" y="4010888"/>
            <a:ext cx="569343" cy="384048"/>
          </a:xfrm>
          <a:prstGeom prst="round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6737D"/>
                </a:solidFill>
                <a:latin typeface="Aptos"/>
              </a:rPr>
              <a:t>Feature selection was performed using training data to avoid using test-set information.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6941130" y="3404061"/>
            <a:ext cx="4663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65237" y="3502981"/>
            <a:ext cx="64008" cy="215798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1" y="3576254"/>
            <a:ext cx="429767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 dirty="0">
                <a:solidFill>
                  <a:srgbClr val="1F3042"/>
                </a:solidFill>
                <a:latin typeface="Aptos"/>
              </a:rPr>
              <a:t>Types of </a:t>
            </a:r>
            <a:r>
              <a:rPr lang="en-US" b="1" dirty="0">
                <a:solidFill>
                  <a:srgbClr val="1F3042"/>
                </a:solidFill>
                <a:latin typeface="Aptos"/>
              </a:rPr>
              <a:t>features selected</a:t>
            </a:r>
            <a:endParaRPr sz="1800" b="1" i="0" dirty="0">
              <a:solidFill>
                <a:srgbClr val="1F3042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17360" y="3941832"/>
            <a:ext cx="4279392" cy="13388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 i="0" dirty="0">
                <a:solidFill>
                  <a:srgbClr val="66737D"/>
                </a:solidFill>
                <a:latin typeface="Aptos"/>
              </a:rPr>
              <a:t>• </a:t>
            </a:r>
            <a:r>
              <a:rPr lang="en-IN" sz="1600" dirty="0" err="1"/>
              <a:t>nutrition_index</a:t>
            </a:r>
            <a:r>
              <a:rPr sz="1500" b="0" i="0" dirty="0">
                <a:solidFill>
                  <a:srgbClr val="66737D"/>
                </a:solidFill>
                <a:latin typeface="Aptos"/>
              </a:rPr>
              <a:t>
• </a:t>
            </a:r>
            <a:r>
              <a:rPr lang="en-IN" sz="1600" dirty="0" err="1"/>
              <a:t>sanitation_score</a:t>
            </a:r>
            <a:r>
              <a:rPr sz="1500" b="0" i="0" dirty="0">
                <a:solidFill>
                  <a:srgbClr val="66737D"/>
                </a:solidFill>
                <a:latin typeface="Aptos"/>
              </a:rPr>
              <a:t>
• </a:t>
            </a:r>
            <a:r>
              <a:rPr lang="en-IN" sz="1600" dirty="0" err="1"/>
              <a:t>healthcare_access</a:t>
            </a:r>
            <a:r>
              <a:rPr sz="1500" b="0" i="0" dirty="0">
                <a:solidFill>
                  <a:srgbClr val="66737D"/>
                </a:solidFill>
                <a:latin typeface="Aptos"/>
              </a:rPr>
              <a:t>
• </a:t>
            </a:r>
            <a:r>
              <a:rPr lang="en-IN" sz="1600" dirty="0"/>
              <a:t>BMI overweight/obesity</a:t>
            </a:r>
          </a:p>
          <a:p>
            <a:endParaRPr sz="1500" b="0" i="0" dirty="0">
              <a:solidFill>
                <a:srgbClr val="6673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042"/>
                </a:solidFill>
                <a:latin typeface="Aptos"/>
              </a:rPr>
              <a:t>06  |  Predictive Modelling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37D"/>
                </a:solidFill>
                <a:latin typeface="Aptos"/>
              </a:rPr>
              <a:t>Three candidate models were developed and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10927080" cy="22860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37D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7D"/>
                </a:solidFill>
                <a:latin typeface="Aptos"/>
              </a:rPr>
              <a:t>ANEMIA RISK PREDICTION  •  NFHS-5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18488"/>
            <a:ext cx="64008" cy="1837943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45919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3042"/>
                </a:solidFill>
                <a:latin typeface="Aptos"/>
              </a:rPr>
              <a:t>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3044952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37D"/>
                </a:solidFill>
                <a:latin typeface="Aptos"/>
              </a:rPr>
              <a:t>Ensemble of decision trees.
Useful for nonlinear patterns and feature-importance ranking.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18488"/>
            <a:ext cx="64008" cy="1837943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45919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3042"/>
                </a:solidFill>
                <a:latin typeface="Aptos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3044952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37D"/>
                </a:solidFill>
                <a:latin typeface="Aptos"/>
              </a:rPr>
              <a:t>Gradient-boosted trees.
Learns patterns iteratively and supports sample weighting.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18488"/>
            <a:ext cx="64008" cy="1837943"/>
          </a:xfrm>
          <a:prstGeom prst="rect">
            <a:avLst/>
          </a:prstGeom>
          <a:solidFill>
            <a:srgbClr val="B1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45919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3042"/>
                </a:solidFill>
                <a:latin typeface="Aptos"/>
              </a:rPr>
              <a:t>Stacking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75688"/>
            <a:ext cx="3044952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37D"/>
                </a:solidFill>
                <a:latin typeface="Aptos"/>
              </a:rPr>
              <a:t>Combines Random Forest and XGBoost outputs using Logistic Regression.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3042"/>
                </a:solidFill>
                <a:latin typeface="Aptos"/>
              </a:rPr>
              <a:t>Training setup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7200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681728"/>
            <a:ext cx="64008" cy="87782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470916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042"/>
                </a:solidFill>
                <a:latin typeface="Aptos"/>
              </a:rPr>
              <a:t>80%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5138928"/>
            <a:ext cx="290779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37D"/>
                </a:solidFill>
                <a:latin typeface="Aptos"/>
              </a:rPr>
              <a:t>565 district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57200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4681728"/>
            <a:ext cx="64008" cy="877824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7" y="470916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042"/>
                </a:solidFill>
                <a:latin typeface="Aptos"/>
              </a:rPr>
              <a:t>20%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5138928"/>
            <a:ext cx="290779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37D"/>
                </a:solidFill>
                <a:latin typeface="Aptos"/>
              </a:rPr>
              <a:t>142 unseen district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rgbClr val="1F3042"/>
                </a:solidFill>
                <a:latin typeface="Aptos"/>
              </a:rPr>
              <a:t>08  | Dataset &amp; Class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37D"/>
                </a:solidFill>
                <a:latin typeface="Aptos"/>
              </a:rPr>
              <a:t>Observed outputs from the notebook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10927080" cy="22860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37D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7D"/>
                </a:solidFill>
                <a:latin typeface="Aptos"/>
              </a:rPr>
              <a:t>ANEMIA RISK PREDICTION  •  NFHS-5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72768"/>
            <a:ext cx="64008" cy="92354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042"/>
                </a:solidFill>
                <a:latin typeface="Aptos"/>
              </a:rPr>
              <a:t>707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208483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37D"/>
                </a:solidFill>
                <a:latin typeface="Aptos"/>
              </a:rPr>
              <a:t>total district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6304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572768"/>
            <a:ext cx="64008" cy="923544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160020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042"/>
                </a:solidFill>
                <a:latin typeface="Aptos"/>
              </a:rPr>
              <a:t>565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029968"/>
            <a:ext cx="208483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37D"/>
                </a:solidFill>
                <a:latin typeface="Aptos"/>
              </a:rPr>
              <a:t>training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572768"/>
            <a:ext cx="64008" cy="923544"/>
          </a:xfrm>
          <a:prstGeom prst="rect">
            <a:avLst/>
          </a:prstGeom>
          <a:solidFill>
            <a:srgbClr val="B1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60020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042"/>
                </a:solidFill>
                <a:latin typeface="Aptos"/>
              </a:rPr>
              <a:t>142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029968"/>
            <a:ext cx="208483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37D"/>
                </a:solidFill>
                <a:latin typeface="Aptos"/>
              </a:rPr>
              <a:t>testing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46304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572768"/>
            <a:ext cx="64008" cy="92354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25128" y="160020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3042"/>
                </a:solidFill>
                <a:latin typeface="Aptos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2029968"/>
            <a:ext cx="208483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37D"/>
                </a:solidFill>
                <a:latin typeface="Aptos"/>
              </a:rPr>
              <a:t>selected features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371600" y="3063240"/>
          <a:ext cx="58521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042"/>
                          </a:solidFill>
                          <a:latin typeface="Aptos"/>
                        </a:rPr>
                        <a:t>Risk class</a:t>
                      </a:r>
                    </a:p>
                  </a:txBody>
                  <a:tcPr>
                    <a:solidFill>
                      <a:srgbClr val="E1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042"/>
                          </a:solidFill>
                          <a:latin typeface="Aptos"/>
                        </a:rPr>
                        <a:t>Training</a:t>
                      </a:r>
                    </a:p>
                  </a:txBody>
                  <a:tcPr>
                    <a:solidFill>
                      <a:srgbClr val="E1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042"/>
                          </a:solidFill>
                          <a:latin typeface="Aptos"/>
                        </a:rPr>
                        <a:t>Testing</a:t>
                      </a:r>
                    </a:p>
                  </a:txBody>
                  <a:tcPr>
                    <a:solidFill>
                      <a:srgbClr val="E1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3042"/>
                          </a:solidFill>
                          <a:latin typeface="Aptos"/>
                        </a:rPr>
                        <a:t>Low (0)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3042"/>
                          </a:solidFill>
                          <a:latin typeface="Aptos"/>
                        </a:rPr>
                        <a:t>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3042"/>
                          </a:solidFill>
                          <a:latin typeface="Aptos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3042"/>
                          </a:solidFill>
                          <a:latin typeface="Aptos"/>
                        </a:rPr>
                        <a:t>Medium 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3042"/>
                          </a:solidFill>
                          <a:latin typeface="Aptos"/>
                        </a:rPr>
                        <a:t>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3042"/>
                          </a:solidFill>
                          <a:latin typeface="Aptos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3042"/>
                          </a:solidFill>
                          <a:latin typeface="Aptos"/>
                        </a:rPr>
                        <a:t>High 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3042"/>
                          </a:solidFill>
                          <a:latin typeface="Aptos"/>
                        </a:rPr>
                        <a:t>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3042"/>
                          </a:solidFill>
                          <a:latin typeface="Aptos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26679" y="297180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26679" y="3081528"/>
            <a:ext cx="64008" cy="1883663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7848" y="310896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042"/>
                </a:solidFill>
                <a:latin typeface="Aptos"/>
              </a:rPr>
              <a:t>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3538728"/>
            <a:ext cx="3044952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66737D"/>
                </a:solidFill>
                <a:latin typeface="Aptos"/>
              </a:rPr>
              <a:t>The split keeps the three classes similarly represented in training and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700" b="1" i="0" dirty="0">
                <a:solidFill>
                  <a:srgbClr val="1F3042"/>
                </a:solidFill>
                <a:latin typeface="Aptos"/>
              </a:rPr>
              <a:t>09  | </a:t>
            </a:r>
            <a:r>
              <a:rPr lang="en-IN" sz="2700" b="1" dirty="0">
                <a:solidFill>
                  <a:srgbClr val="1F3042"/>
                </a:solidFill>
                <a:latin typeface="Aptos"/>
              </a:rPr>
              <a:t>Results: </a:t>
            </a:r>
            <a:r>
              <a:rPr sz="2700" b="1" i="0" dirty="0">
                <a:solidFill>
                  <a:srgbClr val="1F3042"/>
                </a:solidFill>
                <a:latin typeface="Aptos"/>
              </a:rPr>
              <a:t>District Prediction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37D"/>
                </a:solidFill>
                <a:latin typeface="Aptos"/>
              </a:rPr>
              <a:t>Example shown by the notebook for Almora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10927080" cy="22860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37D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7D"/>
                </a:solidFill>
                <a:latin typeface="Aptos"/>
              </a:rPr>
              <a:t>ANEMIA RISK PREDICTION  •  NFHS-5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27048"/>
            <a:ext cx="64008" cy="832103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54480"/>
            <a:ext cx="2697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3042"/>
                </a:solidFill>
                <a:latin typeface="Aptos"/>
              </a:rPr>
              <a:t>📍 District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84248"/>
            <a:ext cx="2679192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66737D"/>
                </a:solidFill>
                <a:latin typeface="Aptos"/>
              </a:rPr>
              <a:t>Almora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807208"/>
            <a:ext cx="64008" cy="832103"/>
          </a:xfrm>
          <a:prstGeom prst="rect">
            <a:avLst/>
          </a:prstGeom>
          <a:solidFill>
            <a:srgbClr val="B1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834640"/>
            <a:ext cx="2697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3042"/>
                </a:solidFill>
                <a:latin typeface="Aptos"/>
              </a:rPr>
              <a:t>🩸 NFHS-5 anemia prevalence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64408"/>
            <a:ext cx="2679192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66737D"/>
                </a:solidFill>
                <a:latin typeface="Aptos"/>
              </a:rPr>
              <a:t>57.70%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087368"/>
            <a:ext cx="64008" cy="832103"/>
          </a:xfrm>
          <a:prstGeom prst="rect">
            <a:avLst/>
          </a:prstGeom>
          <a:solidFill>
            <a:srgbClr val="CDA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114800"/>
            <a:ext cx="2697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3042"/>
                </a:solidFill>
                <a:latin typeface="Aptos"/>
              </a:rPr>
              <a:t>⚠ Predicted risk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544568"/>
            <a:ext cx="2679192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66737D"/>
                </a:solidFill>
                <a:latin typeface="Aptos"/>
              </a:rPr>
              <a:t>Low</a:t>
            </a:r>
          </a:p>
        </p:txBody>
      </p:sp>
      <p:pic>
        <p:nvPicPr>
          <p:cNvPr id="19" name="Picture 18" descr="image(20261012-03322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17320"/>
            <a:ext cx="6858000" cy="4203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51960" y="5715000"/>
            <a:ext cx="6492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B15C5C"/>
                </a:solidFill>
                <a:latin typeface="Aptos"/>
              </a:rPr>
              <a:t>Important: 57.70% is read from the dataset; the model predicts the risk category, not a new percentage.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042"/>
                </a:solidFill>
                <a:latin typeface="Aptos"/>
              </a:rPr>
              <a:t>10  |  Interpretation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9313"/>
            <a:ext cx="10927080" cy="22860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37D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37D"/>
                </a:solidFill>
                <a:latin typeface="Aptos"/>
              </a:rPr>
              <a:t>ANEMIA RISK PREDICTION  •  NFHS-5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72768"/>
            <a:ext cx="64008" cy="1609344"/>
          </a:xfrm>
          <a:prstGeom prst="rect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47548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3042"/>
                </a:solidFill>
                <a:latin typeface="Aptos"/>
              </a:rPr>
              <a:t>What the output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4736592" cy="9541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Risk levels are based on the anemia percentages in our dataset. </a:t>
            </a:r>
            <a:r>
              <a:rPr sz="1400" b="0" i="0" dirty="0">
                <a:solidFill>
                  <a:srgbClr val="66737D"/>
                </a:solidFill>
                <a:latin typeface="Aptos"/>
              </a:rPr>
              <a:t>
</a:t>
            </a:r>
            <a:r>
              <a:rPr lang="en-US" sz="1400" dirty="0"/>
              <a:t>Results show anemia risk at the district level. </a:t>
            </a:r>
            <a:r>
              <a:rPr sz="1400" b="0" i="0" dirty="0">
                <a:solidFill>
                  <a:srgbClr val="66737D"/>
                </a:solidFill>
                <a:latin typeface="Aptos"/>
              </a:rPr>
              <a:t>
</a:t>
            </a:r>
            <a:r>
              <a:rPr lang="en-US" sz="1400" dirty="0"/>
              <a:t>The model does not diagnose individual people.</a:t>
            </a:r>
            <a:endParaRPr sz="1400" b="0" i="0" dirty="0">
              <a:solidFill>
                <a:srgbClr val="66737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72768"/>
            <a:ext cx="64008" cy="1609344"/>
          </a:xfrm>
          <a:prstGeom prst="rect">
            <a:avLst/>
          </a:prstGeom>
          <a:solidFill>
            <a:srgbClr val="B1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00200"/>
            <a:ext cx="47548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3042"/>
                </a:solidFill>
                <a:latin typeface="Aptos"/>
              </a:rPr>
              <a:t>Key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29968"/>
            <a:ext cx="4736592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400" b="0" i="0" dirty="0">
                <a:solidFill>
                  <a:srgbClr val="66737D"/>
                </a:solidFill>
                <a:latin typeface="Aptos"/>
              </a:rPr>
              <a:t>• </a:t>
            </a:r>
            <a:r>
              <a:rPr lang="en-US" sz="1400" dirty="0"/>
              <a:t>Risk levels are not official medical categories. </a:t>
            </a:r>
            <a:r>
              <a:rPr sz="1400" b="0" i="0" dirty="0">
                <a:solidFill>
                  <a:srgbClr val="66737D"/>
                </a:solidFill>
                <a:latin typeface="Aptos"/>
              </a:rPr>
              <a:t>
• </a:t>
            </a:r>
            <a:r>
              <a:rPr lang="en-US" sz="1400" dirty="0"/>
              <a:t>The model needs more testing on other data.</a:t>
            </a:r>
            <a:endParaRPr sz="1400" b="0" i="0" dirty="0">
              <a:solidFill>
                <a:srgbClr val="66737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0241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3042"/>
                </a:solidFill>
                <a:latin typeface="Aptos"/>
              </a:rPr>
              <a:t>Next improvements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535424"/>
            <a:ext cx="91440" cy="91440"/>
          </a:xfrm>
          <a:prstGeom prst="ellipse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4434840"/>
            <a:ext cx="985723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2E37"/>
                </a:solidFill>
                <a:latin typeface="Aptos"/>
              </a:rPr>
              <a:t>Confirm the target and remove direct/near-direct proxies.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974336"/>
            <a:ext cx="91440" cy="91440"/>
          </a:xfrm>
          <a:prstGeom prst="ellipse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4873752"/>
            <a:ext cx="985723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2E37"/>
                </a:solidFill>
                <a:latin typeface="Aptos"/>
              </a:rPr>
              <a:t>Report measured test metrics and compare with a simple baseline.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413248"/>
            <a:ext cx="91440" cy="91440"/>
          </a:xfrm>
          <a:prstGeom prst="ellipse">
            <a:avLst/>
          </a:prstGeom>
          <a:solidFill>
            <a:srgbClr val="397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5312664"/>
            <a:ext cx="985723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2E37"/>
                </a:solidFill>
                <a:latin typeface="Aptos"/>
              </a:rPr>
              <a:t>Validate on independent data before practical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2EBEF"/>
                </a:solidFill>
                <a:latin typeface="Aptos"/>
              </a:rPr>
              <a:t>An end-to-end KDD workflow was built for district-level anemia risk classification.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3337560" cy="1600200"/>
          </a:xfrm>
          <a:prstGeom prst="roundRect">
            <a:avLst/>
          </a:prstGeom>
          <a:solidFill>
            <a:srgbClr val="2D4454"/>
          </a:solidFill>
          <a:ln>
            <a:solidFill>
              <a:srgbClr val="4C6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292608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9BCDC5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33756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767328"/>
            <a:ext cx="2926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CE5EA"/>
                </a:solidFill>
                <a:latin typeface="Aptos"/>
              </a:rPr>
              <a:t>Clean and transform NFHS-5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743200"/>
            <a:ext cx="3337560" cy="1600200"/>
          </a:xfrm>
          <a:prstGeom prst="roundRect">
            <a:avLst/>
          </a:prstGeom>
          <a:solidFill>
            <a:srgbClr val="2D4454"/>
          </a:solidFill>
          <a:ln>
            <a:solidFill>
              <a:srgbClr val="4C6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82312" y="292608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9BCDC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333756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3767328"/>
            <a:ext cx="2926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DCE5EA"/>
                </a:solidFill>
                <a:latin typeface="Aptos"/>
              </a:rPr>
              <a:t>Compare Random Forest, </a:t>
            </a:r>
            <a:r>
              <a:rPr sz="1200" b="0" i="0" dirty="0" err="1">
                <a:solidFill>
                  <a:srgbClr val="DCE5EA"/>
                </a:solidFill>
                <a:latin typeface="Aptos"/>
              </a:rPr>
              <a:t>XGBoost</a:t>
            </a:r>
            <a:r>
              <a:rPr sz="1200" b="0" i="0" dirty="0">
                <a:solidFill>
                  <a:srgbClr val="DCE5EA"/>
                </a:solidFill>
                <a:latin typeface="Aptos"/>
              </a:rPr>
              <a:t> and stacking.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743200"/>
            <a:ext cx="3337560" cy="1600200"/>
          </a:xfrm>
          <a:prstGeom prst="roundRect">
            <a:avLst/>
          </a:prstGeom>
          <a:solidFill>
            <a:srgbClr val="2D4454"/>
          </a:solidFill>
          <a:ln>
            <a:solidFill>
              <a:srgbClr val="4C6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7072" y="292608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9BCDC5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33756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Interpret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767328"/>
            <a:ext cx="2926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CE5EA"/>
                </a:solidFill>
                <a:latin typeface="Aptos"/>
              </a:rPr>
              <a:t>Present risk classes with evaluation and limitations.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10424160" cy="4462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DCE5E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673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 pawar</dc:creator>
  <cp:keywords/>
  <dc:description>generated using python-pptx</dc:description>
  <cp:lastModifiedBy>jay pawar</cp:lastModifiedBy>
  <cp:revision>4</cp:revision>
  <dcterms:created xsi:type="dcterms:W3CDTF">2013-01-27T09:14:16Z</dcterms:created>
  <dcterms:modified xsi:type="dcterms:W3CDTF">2026-10-12T09:25:10Z</dcterms:modified>
  <cp:category/>
</cp:coreProperties>
</file>